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开场用一句话说明项目：我建立并审计了多站点 fMRI ML/DL 流程，分别检验表示选择和影像增量。不要以诊断系统介绍。英文主页面面向招聘，中文备注用于讲解。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表示是否更好，与影像是否在非影像信息之外增加收益，是不同的问题。先比较同一影像输入和模型，再加入年龄、性别、站点、头动对照。不能将组合0.7127写成纯影像准确率。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378人中211对照、167ADHD。五次三折是内部重复评估，三折轮换测试集；每折201训练、51验证、126测试。五次重复共享受试者，不能视为独立研究。时间窗或切片不能跨角色。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预处理的数据拟合范围是训练集。单人协方差估计不读取其他受试者；切空间参考由训练协方差计算，再应用于验证测试。ANOVA筛选和标准化只fit训练。验证选择C、epoch和alpha；test用于评估。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这四个数字均属于378人同协议。MLP从0.6096到0.6453，五次重复均增加，平均差0.0357；LR同样改善。条形图横轴0到1；须强调须线是五次重复最小最大，不是95%CI。MLP相对tangent LR仅0.0101，不主张神经网络普遍更好。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控制组包含年龄、性别、站点及头动。它的AUC为0.7077，影像预测组合为0.7127，增量约0.0050且有一次为负。非影像LR不等于消除所有混杂。不能从小增量推出ADHD没有脑影像信号，也不能证明因果机制。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1000维，64/16隐藏层，65121参数。GELU和dropout0.4/0.3，AdamW，学习率0.001，权重衰减0.01，batch16，最多80epoch，验证AUC早停patience12。三种子等权。重复之间复用了同组种子，应诚实说明。学习曲线来自历史输出，真实完整训练时间没有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新入口独立检查35910条真实测试预测和60组融合权重。验证受试者角色和标签、跨阶段相同队列、AUC平均方式，以及validation-only alpha和组合算术。浮点差约1e-16。区别：表层预测重放不等于重新从原始MRI预处理并训练所有模型。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现场执行python -m adhd_fmri_benchmark demo --out新目录。合成120例，60训练30验证30测试，跑原MLP训练函数并重放checkpoint。合成AUC不是ADHD结果。展示一个测试，修改held-out值仍不改变trainfit。再打开真实verificationJSON讲两者区别。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医疗AI岗位讲QC、神经影像表示、站点与头动、非影像对照和外部验证边界。通用DS/MLE讲数据契约、版本、缓存与可运行入口、测试和资源成本。以证据解释为什么停下调参，而不是用阴性结果替代工程交付。项目主要由Ningyu主导，AI辅助开发审阅，不能转写为学生独立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MEDICAL AI / DATA SCIENCE / ML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Measuring what fMRI adds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60704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800" b="0">
                <a:solidFill>
                  <a:srgbClr val="152B3C"/>
                </a:solidFill>
                <a:latin typeface="Aptos"/>
              </a:defRPr>
            </a:pPr>
            <a:r>
              <a:t>A reproducible pipeline from audited participants</a:t>
            </a:r>
          </a:p>
          <a:p>
            <a:pPr>
              <a:spcAft>
                <a:spcPts val="900"/>
              </a:spcAft>
              <a:defRPr sz="2800" b="0">
                <a:solidFill>
                  <a:srgbClr val="152B3C"/>
                </a:solidFill>
                <a:latin typeface="Aptos"/>
              </a:defRPr>
            </a:pPr>
            <a:r>
              <a:t>to controlled, inspectable model comparisons.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383280"/>
            <a:ext cx="347472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38328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31089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378 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78224"/>
            <a:ext cx="310896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Audited identity and labels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A424 connectivity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3383280"/>
            <a:ext cx="347472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338328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3538728"/>
            <a:ext cx="31089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ML + small DL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078224"/>
            <a:ext cx="310896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Logistic regression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64 / 16 MLP ensemble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3383280"/>
            <a:ext cx="347472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338328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3538728"/>
            <a:ext cx="31089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Evidence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4078224"/>
            <a:ext cx="310896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Role-safe evaluation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Independent table replay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2356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775"/>
                </a:solidFill>
                <a:latin typeface="Aptos"/>
              </a:defRPr>
            </a:pPr>
            <a:r>
              <a:t>Internal research benchmark · not a clinical diagnostic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Two questions need two comparisons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521208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7"/>
            <a:ext cx="48463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1  Representation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9463"/>
            <a:ext cx="484632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Pearson vs tangent connectivity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Same cohort, splits and classifiers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21208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50292" cy="2057400"/>
          </a:xfrm>
          <a:prstGeom prst="rect">
            <a:avLst/>
          </a:prstGeom>
          <a:solidFill>
            <a:srgbClr val="B9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7"/>
            <a:ext cx="48463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B97921"/>
                </a:solidFill>
                <a:latin typeface="Aptos"/>
              </a:defRPr>
            </a:pPr>
            <a:r>
              <a:t>2  Added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9463"/>
            <a:ext cx="484632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Full non-imaging control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vs control + imaging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43400"/>
            <a:ext cx="1033272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A stronger image-only score does not, by itself,</a:t>
            </a:r>
          </a:p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establish useful information beyond the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02 / DATA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One participant stays in one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4846320" cy="164592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45720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920240"/>
            <a:ext cx="2103120" cy="1645920"/>
          </a:xfrm>
          <a:prstGeom prst="rect">
            <a:avLst/>
          </a:prstGeom>
          <a:solidFill>
            <a:srgbClr val="B9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084831"/>
            <a:ext cx="1828799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16352"/>
            <a:ext cx="1828799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017520" cy="1645920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084831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81635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152B3C"/>
                </a:solidFill>
                <a:latin typeface="Aptos"/>
              </a:defRPr>
            </a:pPr>
            <a:r>
              <a:t>5 repeats × 3 folds · stratified by site and label</a:t>
            </a:r>
          </a:p>
          <a:p>
            <a:pPr>
              <a:spcAft>
                <a:spcPts val="900"/>
              </a:spcAft>
              <a:defRPr sz="2300" b="0">
                <a:solidFill>
                  <a:srgbClr val="152B3C"/>
                </a:solidFill>
                <a:latin typeface="Aptos"/>
              </a:defRPr>
            </a:pPr>
            <a:r>
              <a:t>211 controls / 167 ADHD · same saved partitions across comparisons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13832"/>
            <a:ext cx="105156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775"/>
                </a:solidFill>
                <a:latin typeface="Aptos"/>
              </a:defRPr>
            </a:pPr>
            <a:r>
              <a:t>Repeated internal development; no untouched external validation for this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03 /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Fit transformations inside the training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2679192" cy="150876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A424 time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52B3C"/>
                </a:solidFill>
                <a:latin typeface="Aptos"/>
              </a:defRPr>
            </a:pPr>
            <a:r>
              <a:t>Within-subject covariance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011680"/>
            <a:ext cx="2679192" cy="150876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231136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52B3C"/>
                </a:solidFill>
                <a:latin typeface="Aptos"/>
              </a:defRPr>
            </a:pPr>
            <a:r>
              <a:t>Pearson / tangent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011680"/>
            <a:ext cx="2679192" cy="150876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231136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Top 1,000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3464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52B3C"/>
                </a:solidFill>
                <a:latin typeface="Aptos"/>
              </a:defRPr>
            </a:pPr>
            <a:r>
              <a:t>ANOVA + standardization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2011680"/>
            <a:ext cx="2679192" cy="150876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231136"/>
            <a:ext cx="2377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087E8B"/>
                </a:solidFill>
                <a:latin typeface="Aptos"/>
              </a:defRPr>
            </a:pPr>
            <a:r>
              <a:t>LR /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83464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52B3C"/>
                </a:solidFill>
                <a:latin typeface="Aptos"/>
              </a:defRPr>
            </a:pPr>
            <a:r>
              <a:t>Validation selects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106070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52B3C"/>
                </a:solidFill>
                <a:latin typeface="Aptos"/>
              </a:defRPr>
            </a:pPr>
            <a:r>
              <a:t>Tests perturb held-out data and labels.</a:t>
            </a:r>
          </a:p>
          <a:p>
            <a:pPr>
              <a:spcAft>
                <a:spcPts val="900"/>
              </a:spcAft>
              <a:defRPr sz="2400" b="0">
                <a:solidFill>
                  <a:srgbClr val="152B3C"/>
                </a:solidFill>
                <a:latin typeface="Aptos"/>
              </a:defRPr>
            </a:pPr>
            <a:r>
              <a:t>Training feature selection, scaling and reference remain unchanged.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68112"/>
            <a:ext cx="1051560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526775"/>
                </a:solidFill>
                <a:latin typeface="Aptos"/>
              </a:defRPr>
            </a:pPr>
            <a:r>
              <a:t>Traceable inputs → saved roles → fitted objects → predictions → aggregate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04 / RESULT: IMAGE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Tangent improves image-only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755648"/>
            <a:ext cx="7315" cy="3310128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59" y="51480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7859" y="1755648"/>
            <a:ext cx="7315" cy="3310128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4979" y="51480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0.25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79" y="1755648"/>
            <a:ext cx="7315" cy="3310128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599" y="51480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01100" y="1755648"/>
            <a:ext cx="7315" cy="3310128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8220" y="51480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0.75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0" y="1755648"/>
            <a:ext cx="7315" cy="3310128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5148072"/>
            <a:ext cx="502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938528"/>
            <a:ext cx="3291839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Pearson · LR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965960"/>
            <a:ext cx="3634850" cy="338328"/>
          </a:xfrm>
          <a:prstGeom prst="rect">
            <a:avLst/>
          </a:prstGeom>
          <a:solidFill>
            <a:srgbClr val="52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89802" y="2112264"/>
            <a:ext cx="132889" cy="16459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89802" y="2020824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22691" y="2020824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1563" y="1938528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B3C"/>
                </a:solidFill>
                <a:latin typeface="Aptos"/>
              </a:defRPr>
            </a:pPr>
            <a:r>
              <a:t>0.5933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606040"/>
            <a:ext cx="3291839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Pearson · MLP ensemble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633472"/>
            <a:ext cx="3734723" cy="338328"/>
          </a:xfrm>
          <a:prstGeom prst="rect">
            <a:avLst/>
          </a:prstGeom>
          <a:solidFill>
            <a:srgbClr val="52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90991" y="2779776"/>
            <a:ext cx="91903" cy="16459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90991" y="2688336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82895" y="2688336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1767" y="260604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B3C"/>
                </a:solidFill>
                <a:latin typeface="Aptos"/>
              </a:defRPr>
            </a:pPr>
            <a:r>
              <a:t>0.6096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273552"/>
            <a:ext cx="3291839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Tangent · LR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300984"/>
            <a:ext cx="3891727" cy="3383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25029" y="3447288"/>
            <a:ext cx="168936" cy="16459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25029" y="3355848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3966" y="3355848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2838" y="3273552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B3C"/>
                </a:solidFill>
                <a:latin typeface="Aptos"/>
              </a:defRPr>
            </a:pPr>
            <a:r>
              <a:t>0.6352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941063"/>
            <a:ext cx="3291839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Tangent · MLP ensemble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968496"/>
            <a:ext cx="3953203" cy="33832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0650" y="4114800"/>
            <a:ext cx="142522" cy="16459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0650" y="4023359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33173" y="4023359"/>
            <a:ext cx="13716" cy="20116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2045" y="3941063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52B3C"/>
                </a:solidFill>
                <a:latin typeface="Aptos"/>
              </a:defRPr>
            </a:pPr>
            <a:r>
              <a:t>0.6453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513832"/>
            <a:ext cx="6583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26775"/>
                </a:solidFill>
                <a:latin typeface="Aptos"/>
              </a:defRPr>
            </a:pPr>
            <a:r>
              <a:t>AUC (0–1) · bars: mean · whiskers: min–max across 5 repeats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852160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087E8B"/>
                </a:solidFill>
                <a:latin typeface="Aptos"/>
              </a:defRPr>
            </a:pPr>
            <a:r>
              <a:t>MLP paired improvement: +0.0357 AUC · positive in 5/5 repeats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05 / RESULT: INCREMENTAL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The fuller control changes the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36576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5200" b="1">
                <a:solidFill>
                  <a:srgbClr val="152B3C"/>
                </a:solidFill>
                <a:latin typeface="Aptos"/>
              </a:defRPr>
            </a:pPr>
            <a:r>
              <a:t>0.7077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365760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52B3C"/>
                </a:solidFill>
                <a:latin typeface="Aptos"/>
              </a:defRPr>
            </a:pPr>
            <a:r>
              <a:t>Full non-imaging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6576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5200" b="1">
                <a:solidFill>
                  <a:srgbClr val="087E8B"/>
                </a:solidFill>
                <a:latin typeface="Aptos"/>
              </a:defRPr>
            </a:pPr>
            <a:r>
              <a:t>0.7127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54680"/>
            <a:ext cx="365760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52B3C"/>
                </a:solidFill>
                <a:latin typeface="Aptos"/>
              </a:defRPr>
            </a:pPr>
            <a:r>
              <a:t>Control + image predictions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965960"/>
            <a:ext cx="2606040" cy="205740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286000"/>
            <a:ext cx="21945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500" b="1">
                <a:solidFill>
                  <a:srgbClr val="087E8B"/>
                </a:solidFill>
                <a:latin typeface="Aptos"/>
              </a:defRPr>
            </a:pPr>
            <a:r>
              <a:t>+0.0050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090672"/>
            <a:ext cx="2194560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52B3C"/>
                </a:solidFill>
                <a:latin typeface="Aptos"/>
              </a:defRPr>
            </a:pPr>
            <a:r>
              <a:t>Mean paired gain</a:t>
            </a:r>
          </a:p>
          <a:p>
            <a:pPr>
              <a:spcAft>
                <a:spcPts val="900"/>
              </a:spcAft>
              <a:defRPr sz="1700" b="0">
                <a:solidFill>
                  <a:srgbClr val="152B3C"/>
                </a:solidFill>
                <a:latin typeface="Aptos"/>
              </a:defRPr>
            </a:pPr>
            <a:r>
              <a:t>4/5 repeats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10424160" cy="10241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Small, partition-sensitive incremental gain.</a:t>
            </a:r>
          </a:p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0.7127 includes non-imaging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06 /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Small architecture, explicit training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32004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28346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1,000 → 64 → 16 →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15184"/>
            <a:ext cx="28346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65,121 parameters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GELU + dropout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920240"/>
            <a:ext cx="32004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92024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075688"/>
            <a:ext cx="28346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Train / select / 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15184"/>
            <a:ext cx="28346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AdamW · early stopping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Saved weights and learning curves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920240"/>
            <a:ext cx="32004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92024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75688"/>
            <a:ext cx="28346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Three fixed seeds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615184"/>
            <a:ext cx="28346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Equal-weight ensemble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Seeds reused across repeats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10424160" cy="9326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152B3C"/>
                </a:solidFill>
                <a:latin typeface="Aptos"/>
              </a:defRPr>
            </a:pPr>
            <a:r>
              <a:t>Compared with tangent LR: +0.0101 mean AUC.</a:t>
            </a:r>
          </a:p>
          <a:p>
            <a:pPr>
              <a:spcAft>
                <a:spcPts val="900"/>
              </a:spcAft>
              <a:defRPr sz="2500" b="0">
                <a:solidFill>
                  <a:srgbClr val="152B3C"/>
                </a:solidFill>
                <a:latin typeface="Aptos"/>
              </a:defRPr>
            </a:pPr>
            <a:r>
              <a:t>Architecture complexity must earn its added cost.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96712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775"/>
                </a:solidFill>
                <a:latin typeface="Aptos"/>
              </a:defRPr>
            </a:pPr>
            <a:r>
              <a:t>Historical full-run time / peak RAM: not measured in this release.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07 /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Evidence that another engineer can inspect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34290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35,910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60904"/>
            <a:ext cx="30632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Test memberships, labels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and per-fold AUC replay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34290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21408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60 weight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60904"/>
            <a:ext cx="30632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Validation-only alpha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and fusion arithmetic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965960"/>
            <a:ext cx="342900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21408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Preserved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60904"/>
            <a:ext cx="30632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11 archived modules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+ 1 documented supplement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1042416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152B3C"/>
                </a:solidFill>
                <a:latin typeface="Aptos"/>
              </a:defRPr>
            </a:pPr>
            <a:r>
              <a:t>Table replay passed. Synthetic training passed.</a:t>
            </a:r>
          </a:p>
          <a:p>
            <a:pPr>
              <a:spcAft>
                <a:spcPts val="900"/>
              </a:spcAft>
              <a:defRPr sz="2500" b="0">
                <a:solidFill>
                  <a:srgbClr val="152B3C"/>
                </a:solidFill>
                <a:latin typeface="Aptos"/>
              </a:defRPr>
            </a:pPr>
            <a:r>
              <a:t>Complete raw-data reconstruction was not rerun.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08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Run the pipeline, then inspect its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38528"/>
            <a:ext cx="10652760" cy="1252728"/>
          </a:xfrm>
          <a:prstGeom prst="rect">
            <a:avLst/>
          </a:prstGeom>
          <a:solidFill>
            <a:srgbClr val="15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101498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python -m adhd_fmri_benchmark demo</a:t>
            </a:r>
          </a:p>
          <a:p>
            <a:pPr>
              <a:spcAft>
                <a:spcPts val="9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  --out artifacts/demo-001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014984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52B3C"/>
                </a:solidFill>
                <a:latin typeface="Aptos"/>
              </a:defRPr>
            </a:pPr>
            <a:r>
              <a:t>120 synthetic examples · 60 / 30 / 30 split</a:t>
            </a:r>
          </a:p>
          <a:p>
            <a:pPr>
              <a:spcAft>
                <a:spcPts val="900"/>
              </a:spcAft>
              <a:defRPr sz="2400" b="0">
                <a:solidFill>
                  <a:srgbClr val="152B3C"/>
                </a:solidFill>
                <a:latin typeface="Aptos"/>
              </a:defRPr>
            </a:pPr>
            <a:r>
              <a:t>Saved training curve + checkpoint replay + measured timing</a:t>
            </a:r>
          </a:p>
          <a:p>
            <a:pPr>
              <a:spcAft>
                <a:spcPts val="900"/>
              </a:spcAft>
              <a:defRPr sz="2400" b="0">
                <a:solidFill>
                  <a:srgbClr val="152B3C"/>
                </a:solidFill>
                <a:latin typeface="Aptos"/>
              </a:defRPr>
            </a:pPr>
            <a:r>
              <a:t>Then inspect tests and the separate frozen-evidence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149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775"/>
                </a:solidFill>
                <a:latin typeface="Aptos"/>
              </a:defRPr>
            </a:pPr>
            <a:r>
              <a:t>Synthetic scores and timing are software-demo measurements, not ADHD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09 / HIRING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11064240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152B3C"/>
                </a:solidFill>
                <a:latin typeface="Aptos"/>
              </a:defRPr>
            </a:pPr>
            <a:r>
              <a:t>One case, two technical conversations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18504"/>
            <a:ext cx="10972800" cy="10972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058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NINGYU SUN  /  ADHD-200  /  FROZEN fMRI v1 · 2026-09-08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2677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2064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29967"/>
            <a:ext cx="4754879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Medical / biological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69463"/>
            <a:ext cx="475487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Imaging QC and representation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Covariate controls and site shift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Careful limits on clinical inference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120640" cy="2057400"/>
          </a:xfrm>
          <a:prstGeom prst="rect">
            <a:avLst/>
          </a:prstGeom>
          <a:solidFill>
            <a:srgbClr val="ED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74519"/>
            <a:ext cx="50292" cy="20574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7"/>
            <a:ext cx="4754879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87E8B"/>
                </a:solidFill>
                <a:latin typeface="Aptos"/>
              </a:defRPr>
            </a:pPr>
            <a:r>
              <a:t>Data science / ML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9463"/>
            <a:ext cx="475487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Data contracts and reproducibility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Testable training/evaluation paths</a:t>
            </a:r>
          </a:p>
          <a:p>
            <a:pPr>
              <a:spcAft>
                <a:spcPts val="900"/>
              </a:spcAft>
              <a:defRPr sz="1800" b="0">
                <a:solidFill>
                  <a:srgbClr val="152B3C"/>
                </a:solidFill>
                <a:latin typeface="Aptos"/>
              </a:defRPr>
            </a:pPr>
            <a:r>
              <a:t>Numerical debugging and model tradeoffs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53712"/>
            <a:ext cx="1024128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Delivered: source + evidence + runnable example.</a:t>
            </a:r>
          </a:p>
          <a:p>
            <a:pPr>
              <a:spcAft>
                <a:spcPts val="900"/>
              </a:spcAft>
              <a:defRPr sz="2700" b="1">
                <a:solidFill>
                  <a:srgbClr val="152B3C"/>
                </a:solidFill>
                <a:latin typeface="Aptos"/>
              </a:defRPr>
            </a:pPr>
            <a:r>
              <a:t>Next evidence, not just the next architecture.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8"/>
            <a:ext cx="10241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26775"/>
                </a:solidFill>
                <a:latin typeface="Aptos"/>
              </a:defRPr>
            </a:pPr>
            <a:r>
              <a:t>github.com/NingyuSUN/adhd-mri-fmri · prepared locally on the fmri-benchmark-v1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ADHD-200 fMRI | Reproducible ML/DL evaluation</dc:title>
  <dc:subject>Internal research evaluation</dc:subject>
  <dc:creator>Ningyu Sun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